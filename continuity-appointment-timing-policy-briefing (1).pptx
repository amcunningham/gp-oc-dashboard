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2a9d8f365d4956" /><Relationship Type="http://schemas.openxmlformats.org/officeDocument/2006/relationships/extended-properties" Target="/docProps/app.xml" Id="R0963fda510e34f23" /><Relationship Type="http://schemas.openxmlformats.org/officeDocument/2006/relationships/officeDocument" Target="/ppt/presentation.xml" Id="Rbb173f5abe5c41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03a7255f594ef5"/>
  </p:sldMasterIdLst>
  <p:notesMasterIdLst>
    <p:notesMasterId xmlns:r="http://schemas.openxmlformats.org/officeDocument/2006/relationships" r:id="R593f8ec014a743f6"/>
  </p:notesMasterIdLst>
  <p:sldIdLst>
    <p:sldId xmlns:r="http://schemas.openxmlformats.org/officeDocument/2006/relationships" id="256" r:id="R7351dd7fa1e14818"/>
    <p:sldId xmlns:r="http://schemas.openxmlformats.org/officeDocument/2006/relationships" id="257" r:id="Rf4d2ae1d7a3643eb"/>
    <p:sldId xmlns:r="http://schemas.openxmlformats.org/officeDocument/2006/relationships" id="258" r:id="R192c86a7741741a8"/>
    <p:sldId xmlns:r="http://schemas.openxmlformats.org/officeDocument/2006/relationships" id="259" r:id="R8b7dc3da62d64798"/>
    <p:sldId xmlns:r="http://schemas.openxmlformats.org/officeDocument/2006/relationships" id="260" r:id="R713aefbc6cb544bf"/>
    <p:sldId xmlns:r="http://schemas.openxmlformats.org/officeDocument/2006/relationships" id="261" r:id="Rac233b34daa24a4f"/>
    <p:sldId xmlns:r="http://schemas.openxmlformats.org/officeDocument/2006/relationships" id="262" r:id="R264fc7c37f814398"/>
    <p:sldId xmlns:r="http://schemas.openxmlformats.org/officeDocument/2006/relationships" id="263" r:id="Rb98d7ef0abed4200"/>
    <p:sldId xmlns:r="http://schemas.openxmlformats.org/officeDocument/2006/relationships" id="264" r:id="R81d8507630474a6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46485cc31141f4" /><Relationship Type="http://schemas.openxmlformats.org/officeDocument/2006/relationships/slideMaster" Target="/ppt/slideMasters/slideMaster1.xml" Id="Raf03a7255f594ef5" /><Relationship Type="http://schemas.openxmlformats.org/officeDocument/2006/relationships/notesMaster" Target="/ppt/notesMasters/notesMaster1.xml" Id="R593f8ec014a743f6" /><Relationship Type="http://schemas.openxmlformats.org/officeDocument/2006/relationships/presProps" Target="/ppt/presProps.xml" Id="Rf4eb7ea939fd4587" /><Relationship Type="http://schemas.openxmlformats.org/officeDocument/2006/relationships/tableStyles" Target="/ppt/tableStyles.xml" Id="Radb1b7e3f90641f6" /><Relationship Type="http://schemas.openxmlformats.org/officeDocument/2006/relationships/slide" Target="/ppt/slides/slide1.xml" Id="R7351dd7fa1e14818" /><Relationship Type="http://schemas.openxmlformats.org/officeDocument/2006/relationships/slide" Target="/ppt/slides/slide2.xml" Id="Rf4d2ae1d7a3643eb" /><Relationship Type="http://schemas.openxmlformats.org/officeDocument/2006/relationships/slide" Target="/ppt/slides/slide3.xml" Id="R192c86a7741741a8" /><Relationship Type="http://schemas.openxmlformats.org/officeDocument/2006/relationships/slide" Target="/ppt/slides/slide4.xml" Id="R8b7dc3da62d64798" /><Relationship Type="http://schemas.openxmlformats.org/officeDocument/2006/relationships/slide" Target="/ppt/slides/slide5.xml" Id="R713aefbc6cb544bf" /><Relationship Type="http://schemas.openxmlformats.org/officeDocument/2006/relationships/slide" Target="/ppt/slides/slide6.xml" Id="Rac233b34daa24a4f" /><Relationship Type="http://schemas.openxmlformats.org/officeDocument/2006/relationships/slide" Target="/ppt/slides/slide7.xml" Id="R264fc7c37f814398" /><Relationship Type="http://schemas.openxmlformats.org/officeDocument/2006/relationships/slide" Target="/ppt/slides/slide8.xml" Id="Rb98d7ef0abed4200" /><Relationship Type="http://schemas.openxmlformats.org/officeDocument/2006/relationships/slide" Target="/ppt/slides/slide9.xml" Id="R81d8507630474a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9e59af9d4349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d82088ecba49d0" /><Relationship Type="http://schemas.openxmlformats.org/officeDocument/2006/relationships/notesMaster" Target="/ppt/notesMasters/notesMaster1.xml" Id="Re11a964166434a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d216e0ef5d449e" /><Relationship Type="http://schemas.openxmlformats.org/officeDocument/2006/relationships/notesMaster" Target="/ppt/notesMasters/notesMaster1.xml" Id="R32000ed7ebfa4b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9696e154ca4f2e" /><Relationship Type="http://schemas.openxmlformats.org/officeDocument/2006/relationships/notesMaster" Target="/ppt/notesMasters/notesMaster1.xml" Id="R63fa2948357a46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46ba552af2488e" /><Relationship Type="http://schemas.openxmlformats.org/officeDocument/2006/relationships/notesMaster" Target="/ppt/notesMasters/notesMaster1.xml" Id="R209ef8940c9240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b7bb4a79544b03" /><Relationship Type="http://schemas.openxmlformats.org/officeDocument/2006/relationships/notesMaster" Target="/ppt/notesMasters/notesMaster1.xml" Id="Ra8eec8de7a9749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a43b9eadf94fe3" /><Relationship Type="http://schemas.openxmlformats.org/officeDocument/2006/relationships/notesMaster" Target="/ppt/notesMasters/notesMaster1.xml" Id="R2b381a06524541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9687253022439b" /><Relationship Type="http://schemas.openxmlformats.org/officeDocument/2006/relationships/notesMaster" Target="/ppt/notesMasters/notesMaster1.xml" Id="Rb06bc62ac7584a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42fe87b413410b" /><Relationship Type="http://schemas.openxmlformats.org/officeDocument/2006/relationships/notesMaster" Target="/ppt/notesMasters/notesMaster1.xml" Id="R1f7be0d4ded74f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6678f0b3f741a0" /><Relationship Type="http://schemas.openxmlformats.org/officeDocument/2006/relationships/notesMaster" Target="/ppt/notesMasters/notesMaster1.xml" Id="R72df40e27bb04b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e8f083250840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6a1fc98bd34424" /><Relationship Type="http://schemas.openxmlformats.org/officeDocument/2006/relationships/slideLayout" Target="/ppt/slideLayouts/slideLayout1.xml" Id="R4b2a61efae8f43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2a61efae8f43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648b9bc1c4d5d" /><Relationship Type="http://schemas.openxmlformats.org/officeDocument/2006/relationships/notesSlide" Target="/ppt/notesSlides/notesSlide1.xml" Id="R317d8d46b1444b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c57031134489b" /><Relationship Type="http://schemas.openxmlformats.org/officeDocument/2006/relationships/notesSlide" Target="/ppt/notesSlides/notesSlide2.xml" Id="R5b0dd3a104e242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53c81feb246ce" /><Relationship Type="http://schemas.openxmlformats.org/officeDocument/2006/relationships/chart" Target="/ppt/slides/charts/chart1.xml" Id="Rfa978e2640964ac3" /><Relationship Type="http://schemas.openxmlformats.org/officeDocument/2006/relationships/notesSlide" Target="/ppt/notesSlides/notesSlide3.xml" Id="R88e2c8f863fd43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8d0ab08c64ab2" /><Relationship Type="http://schemas.openxmlformats.org/officeDocument/2006/relationships/notesSlide" Target="/ppt/notesSlides/notesSlide4.xml" Id="Rf18b2d51199c44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c5b7a9aa94ba1" /><Relationship Type="http://schemas.openxmlformats.org/officeDocument/2006/relationships/notesSlide" Target="/ppt/notesSlides/notesSlide5.xml" Id="R7f7cc43665ae46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41febbcac4960" /><Relationship Type="http://schemas.openxmlformats.org/officeDocument/2006/relationships/notesSlide" Target="/ppt/notesSlides/notesSlide6.xml" Id="R79d750276d2b4c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81cd1e7694db5" /><Relationship Type="http://schemas.openxmlformats.org/officeDocument/2006/relationships/notesSlide" Target="/ppt/notesSlides/notesSlide7.xml" Id="R486abc6465ac44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395bfcb2f4ea7" /><Relationship Type="http://schemas.openxmlformats.org/officeDocument/2006/relationships/notesSlide" Target="/ppt/notesSlides/notesSlide8.xml" Id="R605e714fe25d4b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8ab1f44f9491a" /><Relationship Type="http://schemas.openxmlformats.org/officeDocument/2006/relationships/notesSlide" Target="/ppt/notesSlides/notesSlide9.xml" Id="R9332c3517e9a48e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Continuity: top 10%</c:v>
          </c:tx>
          <c:spPr>
            <a:solidFill xmlns:a="http://schemas.openxmlformats.org/drawingml/2006/main">
              <a:srgbClr val="348F8A"/>
            </a:solidFill>
          </c:spPr>
          <c:cat>
            <c:strLit>
              <c:ptCount val="5"/>
              <c:pt idx="0">
                <c:v>Overall experience</c:v>
              </c:pt>
              <c:pt idx="1">
                <c:v>Wait acceptable</c:v>
              </c:pt>
              <c:pt idx="2">
                <c:v>Needs met</c:v>
              </c:pt>
              <c:pt idx="3">
                <c:v>Trust</c:v>
              </c:pt>
              <c:pt idx="4">
                <c:v>Involvement</c:v>
              </c:pt>
            </c:strLit>
          </c:cat>
          <c:val>
            <c:numLit>
              <c:formatCode>General</c:formatCode>
              <c:ptCount val="5"/>
              <c:pt idx="0">
                <c:v>87.5</c:v>
              </c:pt>
              <c:pt idx="1">
                <c:v>80</c:v>
              </c:pt>
              <c:pt idx="2">
                <c:v>94.4</c:v>
              </c:pt>
              <c:pt idx="3">
                <c:v>95.8</c:v>
              </c:pt>
              <c:pt idx="4">
                <c:v>95.3</c:v>
              </c:pt>
            </c:numLit>
          </c:val>
        </c:ser>
        <c:ser>
          <c:idx val="1"/>
          <c:order val="1"/>
          <c:tx>
            <c:v>Same/next-day: top 10%</c:v>
          </c:tx>
          <c:spPr>
            <a:solidFill xmlns:a="http://schemas.openxmlformats.org/drawingml/2006/main">
              <a:srgbClr val="2F6B9A"/>
            </a:solidFill>
          </c:spPr>
          <c:cat>
            <c:strLit>
              <c:ptCount val="5"/>
              <c:pt idx="0">
                <c:v>Overall experience</c:v>
              </c:pt>
              <c:pt idx="1">
                <c:v>Wait acceptable</c:v>
              </c:pt>
              <c:pt idx="2">
                <c:v>Needs met</c:v>
              </c:pt>
              <c:pt idx="3">
                <c:v>Trust</c:v>
              </c:pt>
              <c:pt idx="4">
                <c:v>Involvement</c:v>
              </c:pt>
            </c:strLit>
          </c:cat>
          <c:val>
            <c:numLit>
              <c:formatCode>General</c:formatCode>
              <c:ptCount val="5"/>
              <c:pt idx="0">
                <c:v>81.9</c:v>
              </c:pt>
              <c:pt idx="1">
                <c:v>83.5</c:v>
              </c:pt>
              <c:pt idx="2">
                <c:v>92.1</c:v>
              </c:pt>
              <c:pt idx="3">
                <c:v>93.7</c:v>
              </c:pt>
              <c:pt idx="4">
                <c:v>92.5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0B50C7-CFB1-4021-A305-2D5FB124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9A"/>
                </a:solidFill>
              </a:defRPr>
            </a:pPr>
            <a:r>
              <a:rPr sz="1050" b="1">
                <a:solidFill>
                  <a:srgbClr val="2F6B9A"/>
                </a:solidFill>
              </a:rPr>
              <a:t>RCGP POLICY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253F1-2E8D-4184-8A59-D57534B0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572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6324F"/>
                </a:solidFill>
              </a:defRPr>
            </a:pPr>
            <a:r>
              <a:rPr sz="3675" b="1">
                <a:solidFill>
                  <a:srgbClr val="16324F"/>
                </a:solidFill>
              </a:rPr>
              <a:t>Continuity, appointment timing</a:t>
            </a:r>
          </a:p>
          <a:p xmlns:a="http://schemas.openxmlformats.org/drawingml/2006/main">
            <a:pPr algn="l">
              <a:defRPr sz="3675" b="1">
                <a:solidFill>
                  <a:srgbClr val="16324F"/>
                </a:solidFill>
              </a:defRPr>
            </a:pPr>
            <a:r>
              <a:rPr sz="3675" b="1">
                <a:solidFill>
                  <a:srgbClr val="16324F"/>
                </a:solidFill>
              </a:rPr>
              <a:t>and patients’ experience of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FF008-BE23-4957-A9A4-7D81C2D8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B78"/>
                </a:solidFill>
              </a:defRPr>
            </a:pPr>
            <a:r>
              <a:rPr sz="1800" b="0">
                <a:solidFill>
                  <a:srgbClr val="5E6B78"/>
                </a:solidFill>
              </a:rPr>
              <a:t>What the 2026 GP Patient Survey and appointment-system data show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3E5B8-D864-46BC-AD1C-3E5367D7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10744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9AD45-4F5A-4C69-8451-5E161767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Dr Anne Marie Cunningham  ·  Clinical Lead for Data and Digital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372FD-A862-4963-B8D4-4244E576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05425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8"/>
                </a:solidFill>
              </a:defRPr>
            </a:pPr>
            <a:r>
              <a:rPr sz="1200" b="0">
                <a:solidFill>
                  <a:srgbClr val="5E6B78"/>
                </a:solidFill>
              </a:rPr>
              <a:t>Draft for RCGP policy team</a:t>
            </a:r>
          </a:p>
        </p:txBody>
      </p:sp>
    </p:spTree>
    <p:extLst>
      <p:ext uri="{BB962C8B-B14F-4D97-AF65-F5344CB8AC3E}">
        <p14:creationId xmlns:p14="http://schemas.microsoft.com/office/powerpoint/2010/main" val="8744641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C9A362-D607-4812-B5CE-6BFA8AC8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</a:defRPr>
            </a:pPr>
            <a:r>
              <a:rPr sz="975" b="1">
                <a:solidFill>
                  <a:srgbClr val="2F6B9A"/>
                </a:solidFill>
              </a:rPr>
              <a:t>RCGP POLICY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0B8CB-5064-4E9B-8BB5-583467D0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24F"/>
                </a:solidFill>
              </a:defRPr>
            </a:pPr>
            <a:r>
              <a:rPr sz="2850" b="1">
                <a:solidFill>
                  <a:srgbClr val="16324F"/>
                </a:solidFill>
              </a:rPr>
              <a:t>Summary: continuity and appointment timing tell us different things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B7FD1-2366-442A-B57A-D8D17B2B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58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6C924-E89F-4499-93A1-CA89E950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B9A"/>
                </a:solidFill>
              </a:defRPr>
            </a:pPr>
            <a:r>
              <a:rPr sz="1125" b="1">
                <a:solidFill>
                  <a:srgbClr val="2F6B9A"/>
                </a:solidFill>
              </a:rPr>
              <a:t>Policy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B0E40-C8DF-41A5-B5AF-5586906A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24F"/>
                </a:solidFill>
              </a:defRPr>
            </a:pPr>
            <a:r>
              <a:rPr sz="1725" b="1">
                <a:solidFill>
                  <a:srgbClr val="16324F"/>
                </a:solidFill>
              </a:rPr>
              <a:t>Is continuity associated with patient experience independently of deprivation and how quickly appointments occur?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4A3FF-C9B9-4CF1-9A95-6F8E6AA6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8F8A"/>
                </a:solidFill>
              </a:defRPr>
            </a:pPr>
            <a:r>
              <a:rPr sz="1200" b="1">
                <a:solidFill>
                  <a:srgbClr val="348F8A"/>
                </a:solidFill>
              </a:rPr>
              <a:t>Headline finding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B6F90D-B9D5-4475-BBD3-4C94B219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05100"/>
            <a:ext cx="830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Continuity has the stronger association with overall experience, needs met, trust and involvement.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4942A-BEC8-4571-AF21-03DED8E3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FF07F-B28B-487D-AFEE-F28B913E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B9A"/>
                </a:solidFill>
              </a:defRPr>
            </a:pPr>
            <a:r>
              <a:rPr sz="1200" b="1">
                <a:solidFill>
                  <a:srgbClr val="2F6B9A"/>
                </a:solidFill>
              </a:rPr>
              <a:t>Where timing leads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D6746-EA06-4E21-9B20-72D941AC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48050"/>
            <a:ext cx="830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Shorter patient-reported intervals have their strongest association with whether the wait felt acceptable.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6DA3D-FAB0-45B2-B755-06C4DE9E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42614-AA32-4085-A4F6-9606AE50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9A2B"/>
                </a:solidFill>
              </a:defRPr>
            </a:pPr>
            <a:r>
              <a:rPr sz="1200" b="1">
                <a:solidFill>
                  <a:srgbClr val="D79A2B"/>
                </a:solidFill>
              </a:rPr>
              <a:t>Deprivation 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88196-B4D8-401D-8C3D-06FD8340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91000"/>
            <a:ext cx="830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Achieved continuity and patient experience are lower in more deprived practices, but their relationship persists within every deprivation quintile.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D4C81-7460-4526-80AA-F7E7D778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8D838F-BA19-47E7-B322-DA5055C0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4F"/>
                </a:solidFill>
              </a:defRPr>
            </a:pPr>
            <a:r>
              <a:rPr sz="1200" b="1">
                <a:solidFill>
                  <a:srgbClr val="16324F"/>
                </a:solidFill>
              </a:rPr>
              <a:t>Why GPAD is included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A3ABF4-31F8-4068-90FD-55543832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933950"/>
            <a:ext cx="830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GPAD supplies appointment timing from practice systems, testing whether the continuity finding persists with an independently recorded timing measure.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6389AD-C3C9-4131-8A2B-AA2999C3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E6FB24-BBDF-4609-A3F0-404B8020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Cross-sectional practice-level associations; they do not establish causation.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26A36B-0828-4B6B-A30D-73AB614D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8"/>
                </a:solidFill>
              </a:defRPr>
            </a:pPr>
            <a:r>
              <a:rPr sz="750" b="0">
                <a:solidFill>
                  <a:srgbClr val="5E6B78"/>
                </a:solidFill>
              </a:rPr>
              <a:t>GP Patient Survey 2026; practice-level analysis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007F2A-A569-4450-8AAD-B1972201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B78"/>
                </a:solidFill>
              </a:defRPr>
            </a:pPr>
            <a:r>
              <a:rPr sz="825" b="1">
                <a:solidFill>
                  <a:srgbClr val="5E6B78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014061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80B9CE-7758-42A1-9F10-2841C39C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</a:defRPr>
            </a:pPr>
            <a:r>
              <a:rPr sz="975" b="1">
                <a:solidFill>
                  <a:srgbClr val="2F6B9A"/>
                </a:solidFill>
              </a:rPr>
              <a:t>RCGP POLICY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F4691-270A-4CC6-BA4C-EB5D48A0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24F"/>
                </a:solidFill>
              </a:defRPr>
            </a:pPr>
            <a:r>
              <a:rPr sz="2850" b="1">
                <a:solidFill>
                  <a:srgbClr val="16324F"/>
                </a:solidFill>
              </a:rPr>
              <a:t>Continuity leads on experience; shorter intervals lead on the wait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723900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a978e2640964ac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1EE77-7BAB-4A67-AC16-BB47CED4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38300"/>
            <a:ext cx="3238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F0655-60E9-4EB5-B147-7955931F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05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Simple decile 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B22C8-E7CD-4A6F-8ED9-5483596B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57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8F8A"/>
                </a:solidFill>
              </a:defRPr>
            </a:pPr>
            <a:r>
              <a:rPr sz="1275" b="1">
                <a:solidFill>
                  <a:srgbClr val="348F8A"/>
                </a:solidFill>
              </a:rPr>
              <a:t>Higher continuity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BDA4A-A52E-4660-8653-F7755AF0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81300"/>
            <a:ext cx="2476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Overall experience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Needs met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Trust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Involvement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2AA4D-C1ED-4A0B-814E-2CB7C50D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14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9A"/>
                </a:solidFill>
              </a:defRPr>
            </a:pPr>
            <a:r>
              <a:rPr sz="1275" b="1">
                <a:solidFill>
                  <a:srgbClr val="2F6B9A"/>
                </a:solidFill>
              </a:rPr>
              <a:t>Shorter interval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420C3-710A-413A-A6CE-C6C6B5CA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386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Acceptability of the wait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AFACD-A2D6-4C44-B3A9-872F24FF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Top 10% groups; pooled weighted GPPS results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D6038-E296-4E13-9938-28F02720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8"/>
                </a:solidFill>
              </a:defRPr>
            </a:pPr>
            <a:r>
              <a:rPr sz="750" b="0">
                <a:solidFill>
                  <a:srgbClr val="5E6B78"/>
                </a:solidFill>
              </a:rPr>
              <a:t>GP Patient Survey 2026; practice-level 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D704F-DA70-48EA-8C7A-B223AAF9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B78"/>
                </a:solidFill>
              </a:defRPr>
            </a:pPr>
            <a:r>
              <a:rPr sz="825" b="1">
                <a:solidFill>
                  <a:srgbClr val="5E6B78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089622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BEC852-F5B1-401F-9437-D1252CF4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</a:defRPr>
            </a:pPr>
            <a:r>
              <a:rPr sz="975" b="1">
                <a:solidFill>
                  <a:srgbClr val="2F6B9A"/>
                </a:solidFill>
              </a:rPr>
              <a:t>RCGP POLICY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B968B-B33E-4F2A-8F9B-2575A2AD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24F"/>
                </a:solidFill>
              </a:defRPr>
            </a:pPr>
            <a:r>
              <a:rPr sz="2850" b="1">
                <a:solidFill>
                  <a:srgbClr val="16324F"/>
                </a:solidFill>
              </a:rPr>
              <a:t>Preference for continuity rises with deprivation; achieved continuity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7B008-53BE-47FF-B5B3-4DB271B6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B78"/>
                </a:solidFill>
              </a:defRPr>
            </a:pPr>
            <a:r>
              <a:rPr sz="1050" b="1">
                <a:solidFill>
                  <a:srgbClr val="5E6B78"/>
                </a:solidFill>
              </a:rPr>
              <a:t>PRACTICE DEPRIVATION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9B476-C42B-49DA-9314-799B8BBF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09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9A2B"/>
                </a:solidFill>
              </a:defRPr>
            </a:pPr>
            <a:r>
              <a:rPr sz="1050" b="1">
                <a:solidFill>
                  <a:srgbClr val="D79A2B"/>
                </a:solidFill>
              </a:rPr>
              <a:t>HAS A PREFERRED PROFESSIONAL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C935B-CDC3-47A5-B37B-141D9E6E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097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48F8A"/>
                </a:solidFill>
              </a:defRPr>
            </a:pPr>
            <a:r>
              <a:rPr sz="1050" b="1">
                <a:solidFill>
                  <a:srgbClr val="348F8A"/>
                </a:solidFill>
              </a:rPr>
              <a:t>REGULARLY SEES OR SPEAKS TO THEM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F8F6D-DEB8-4ACA-BF1F-B238F854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85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43E98-1148-464B-8133-61F011A0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4F"/>
                </a:solidFill>
              </a:defRPr>
            </a:pPr>
            <a:r>
              <a:rPr sz="1350" b="0">
                <a:solidFill>
                  <a:srgbClr val="16324F"/>
                </a:solidFill>
              </a:rPr>
              <a:t>Least deprived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87104E-FD37-4B6D-A14A-270DD322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0025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30.3%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9D307-0BA7-42C0-8355-0EA92E4D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45.9%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E449A-CEB1-45FC-9F2F-9E579602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85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70AC96-F2DB-41A6-BFFC-98FEB99F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4F"/>
                </a:solidFill>
              </a:defRPr>
            </a:pPr>
            <a:r>
              <a:rPr sz="1350" b="0">
                <a:solidFill>
                  <a:srgbClr val="16324F"/>
                </a:solidFill>
              </a:rPr>
              <a:t>Q2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5FDD0-7386-43D4-AE7A-2E9190C9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0985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30.5%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E13595-2971-4B19-8C84-85C4EACA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09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43.7%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2D8DE-A88D-4E35-9D38-5F6BD9BC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85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09C305-5807-4B32-B2D5-52D39680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4F"/>
                </a:solidFill>
              </a:defRPr>
            </a:pPr>
            <a:r>
              <a:rPr sz="1350" b="0">
                <a:solidFill>
                  <a:srgbClr val="16324F"/>
                </a:solidFill>
              </a:rPr>
              <a:t>Q3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72008-A56D-4973-95AE-41958DDA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1945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30.2%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411E61-221B-43C2-8AD1-A778F2D1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19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41.3%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5DF112-AB0F-48E8-8869-F806DFAF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85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63FA7E-1F1F-47DE-B634-BE65CD5C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4F"/>
                </a:solidFill>
              </a:defRPr>
            </a:pPr>
            <a:r>
              <a:rPr sz="1350" b="0">
                <a:solidFill>
                  <a:srgbClr val="16324F"/>
                </a:solidFill>
              </a:rPr>
              <a:t>Q4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89C607-DA56-4FAA-8098-8B1F3CAE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2905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31.7%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AA9038-8408-491B-A6E6-216FC66F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29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38.9%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9BC1CC-A6B6-4460-AF0B-65F4A2AA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85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251763-7B61-47F5-B3B7-EC01655E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4F"/>
                </a:solidFill>
              </a:defRPr>
            </a:pPr>
            <a:r>
              <a:rPr sz="1350" b="0">
                <a:solidFill>
                  <a:srgbClr val="16324F"/>
                </a:solidFill>
              </a:rPr>
              <a:t>Most deprived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94AF73-BD38-467D-8D90-EB9419DC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3865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34.2%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A30757-CEB9-4078-A133-1C6476BB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38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38.5%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AD3B83-C214-4E81-BA86-4D32CB12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85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78F9F8-F2D6-41D8-81DF-89A3F5FB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Difference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98DBB4-AB03-499F-816D-4780C3EF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4825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79A2B"/>
                </a:solidFill>
              </a:defRPr>
            </a:pPr>
            <a:r>
              <a:rPr sz="1425" b="1">
                <a:solidFill>
                  <a:srgbClr val="D79A2B"/>
                </a:solidFill>
              </a:rPr>
              <a:t>+3.9 points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90A064-D547-4186-8054-8C890FAE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482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48F8A"/>
                </a:solidFill>
              </a:defRPr>
            </a:pPr>
            <a:r>
              <a:rPr sz="1425" b="1">
                <a:solidFill>
                  <a:srgbClr val="348F8A"/>
                </a:solidFill>
              </a:rPr>
              <a:t>−7.4 points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30885A-697B-4EAA-BC34-EF63ABB7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The demand for a preferred professional is not lower in more deprived areas; the likelihood of achieving that continuity is.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5270CA-5899-4C20-85EB-D69F9772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8"/>
                </a:solidFill>
              </a:defRPr>
            </a:pPr>
            <a:r>
              <a:rPr sz="750" b="0">
                <a:solidFill>
                  <a:srgbClr val="5E6B78"/>
                </a:solidFill>
              </a:rPr>
              <a:t>GPPS 2026; pooled practice-level weighted results by IMD quintile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AF854E-968B-472D-92D1-E5B7BCAF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B78"/>
                </a:solidFill>
              </a:defRPr>
            </a:pPr>
            <a:r>
              <a:rPr sz="825" b="1">
                <a:solidFill>
                  <a:srgbClr val="5E6B78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203884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7FE31C-6E16-4545-A478-DED9C7F8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</a:defRPr>
            </a:pPr>
            <a:r>
              <a:rPr sz="975" b="1">
                <a:solidFill>
                  <a:srgbClr val="2F6B9A"/>
                </a:solidFill>
              </a:rPr>
              <a:t>RCGP POLICY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E9FAD-A83F-4B4F-9FDC-535BDFF7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24F"/>
                </a:solidFill>
              </a:defRPr>
            </a:pPr>
            <a:r>
              <a:rPr sz="2850" b="1">
                <a:solidFill>
                  <a:srgbClr val="16324F"/>
                </a:solidFill>
              </a:rPr>
              <a:t>Continuity and patient experience both decline with deprivation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67196-C151-4F40-849A-516CEEB4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B78"/>
                </a:solidFill>
              </a:defRPr>
            </a:pPr>
            <a:r>
              <a:rPr sz="900" b="1">
                <a:solidFill>
                  <a:srgbClr val="5E6B78"/>
                </a:solidFill>
              </a:rPr>
              <a:t>DEPRIVATION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22E4E-BA44-47D8-A996-FE34A8A2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48F8A"/>
                </a:solidFill>
              </a:defRPr>
            </a:pPr>
            <a:r>
              <a:rPr sz="900" b="1">
                <a:solidFill>
                  <a:srgbClr val="348F8A"/>
                </a:solidFill>
              </a:rPr>
              <a:t>CONTINUITY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DC527-277F-4417-BB98-08CA05ED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4668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E6B78"/>
                </a:solidFill>
              </a:defRPr>
            </a:pPr>
            <a:r>
              <a:rPr sz="900" b="1">
                <a:solidFill>
                  <a:srgbClr val="5E6B78"/>
                </a:solidFill>
              </a:rPr>
              <a:t>OVERALL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6289D-A636-4164-9986-DB5A8C86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4668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79A2B"/>
                </a:solidFill>
              </a:defRPr>
            </a:pPr>
            <a:r>
              <a:rPr sz="900" b="1">
                <a:solidFill>
                  <a:srgbClr val="D79A2B"/>
                </a:solidFill>
              </a:rPr>
              <a:t>WAIT ACCEPTABLE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86D45-29D8-467A-B8E5-5D5EF60B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46685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E6B78"/>
                </a:solidFill>
              </a:defRPr>
            </a:pPr>
            <a:r>
              <a:rPr sz="900" b="1">
                <a:solidFill>
                  <a:srgbClr val="5E6B78"/>
                </a:solidFill>
              </a:rPr>
              <a:t>NEEDS MET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F6D54-5AD7-4073-B6AC-14F6A7CF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668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E6B78"/>
                </a:solidFill>
              </a:defRPr>
            </a:pPr>
            <a:r>
              <a:rPr sz="900" b="1">
                <a:solidFill>
                  <a:srgbClr val="5E6B78"/>
                </a:solidFill>
              </a:rPr>
              <a:t>TRUST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5F7DD-1AAB-47C6-B7FD-B4A18695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668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E6B78"/>
                </a:solidFill>
              </a:defRPr>
            </a:pPr>
            <a:r>
              <a:rPr sz="900" b="1">
                <a:solidFill>
                  <a:srgbClr val="5E6B78"/>
                </a:solidFill>
              </a:rPr>
              <a:t>INVOLVEMENT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5A933-5848-4121-8D0F-02752E37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85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C6433-B07E-4F9E-A378-73633D4E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Least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13910-A4EF-46BA-BCDB-6BF2725C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66925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48F8A"/>
                </a:solidFill>
              </a:defRPr>
            </a:pPr>
            <a:r>
              <a:rPr sz="1350" b="0">
                <a:solidFill>
                  <a:srgbClr val="348F8A"/>
                </a:solidFill>
              </a:rPr>
              <a:t>45.5%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E49483-A67D-4D90-A79C-6FBFFED6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669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81.5%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EF4DC5-B6AE-402F-BF3E-27C2059A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6692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79A2B"/>
                </a:solidFill>
              </a:defRPr>
            </a:pPr>
            <a:r>
              <a:rPr sz="1350" b="0">
                <a:solidFill>
                  <a:srgbClr val="D79A2B"/>
                </a:solidFill>
              </a:rPr>
              <a:t>73.6%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448B8-3031-4AFC-825B-5C8A1F69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66925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92.7%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FCBC36-7A4E-43D7-A2B9-7EC9FF31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669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94.6%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D67918-0F1E-427F-97F4-9004287E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66925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93.9%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5F8B14-E1DC-4F1D-B526-53B85633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85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7982AF-7E25-402C-A3EB-4BC70D79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Q2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936F74-90FF-4C09-B7AB-DF7114C9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14625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48F8A"/>
                </a:solidFill>
              </a:defRPr>
            </a:pPr>
            <a:r>
              <a:rPr sz="1350" b="0">
                <a:solidFill>
                  <a:srgbClr val="348F8A"/>
                </a:solidFill>
              </a:rPr>
              <a:t>44.4%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DD051E-8647-40E6-A107-76889FB8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146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80.0%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1A44D2-AFEA-429C-AF39-F61F4D4A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1462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79A2B"/>
                </a:solidFill>
              </a:defRPr>
            </a:pPr>
            <a:r>
              <a:rPr sz="1350" b="0">
                <a:solidFill>
                  <a:srgbClr val="D79A2B"/>
                </a:solidFill>
              </a:rPr>
              <a:t>72.0%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2E10AB-9C74-403B-8793-CC2C32EA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14625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91.5%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407376-1604-4A6C-BC63-2348BF03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146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93.6%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034058-1444-4573-AD62-CC58B0BC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14625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92.8%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AE1A6C-BB82-418E-8C9D-0D0BBE60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85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CCC896-9A93-4444-A12E-066D8EA8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Q3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386867-B9E1-46F7-A2B6-5D865769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62325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48F8A"/>
                </a:solidFill>
              </a:defRPr>
            </a:pPr>
            <a:r>
              <a:rPr sz="1350" b="0">
                <a:solidFill>
                  <a:srgbClr val="348F8A"/>
                </a:solidFill>
              </a:rPr>
              <a:t>42.4%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0C9A29-027A-4E48-864C-14DD69AC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623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77.9%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673BD5-8EAB-41CB-9DD8-A5B30493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6232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79A2B"/>
                </a:solidFill>
              </a:defRPr>
            </a:pPr>
            <a:r>
              <a:rPr sz="1350" b="0">
                <a:solidFill>
                  <a:srgbClr val="D79A2B"/>
                </a:solidFill>
              </a:rPr>
              <a:t>70.8%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CBC1AA-2E77-4712-A572-50503C09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62325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90.4%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CADE1C-2C24-4AE4-AAEC-4E493A4C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623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92.6%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F8215D-DCD9-454F-BEB0-D3F96B32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62325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91.5%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D99FFB-F82F-4E0A-B21D-DFC7E468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85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9D2A24-79A9-4C4A-A7A2-25F55176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Q4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7DB334-A40F-45A2-A14F-2F455AAF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10025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48F8A"/>
                </a:solidFill>
              </a:defRPr>
            </a:pPr>
            <a:r>
              <a:rPr sz="1350" b="0">
                <a:solidFill>
                  <a:srgbClr val="348F8A"/>
                </a:solidFill>
              </a:rPr>
              <a:t>40.6%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7E2DE8-F2D1-4823-B61B-60870F12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100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76.4%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3F4DF7-46AE-471B-834D-2717D7DF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1002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79A2B"/>
                </a:solidFill>
              </a:defRPr>
            </a:pPr>
            <a:r>
              <a:rPr sz="1350" b="0">
                <a:solidFill>
                  <a:srgbClr val="D79A2B"/>
                </a:solidFill>
              </a:rPr>
              <a:t>69.1%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62758A-DF24-499B-A33A-54C4B144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10025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89.3%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9053E2-9F2D-46FD-B175-C0D9E76D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100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91.8%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A1E132-57E5-4853-BF9D-4F739E4C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10025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90.6%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3F876F-FF60-4F39-B53D-6FADAB8A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85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E873D00-A194-4904-AA90-34C33BB7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Most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EEFF58-5BAA-4834-80C2-23CE1470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57725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48F8A"/>
                </a:solidFill>
              </a:defRPr>
            </a:pPr>
            <a:r>
              <a:rPr sz="1350" b="0">
                <a:solidFill>
                  <a:srgbClr val="348F8A"/>
                </a:solidFill>
              </a:rPr>
              <a:t>40.1%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91C88F-CACB-4076-A1FF-E9F8B24D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577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75.0%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B566B6-9A40-4464-AE11-8A314690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65772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79A2B"/>
                </a:solidFill>
              </a:defRPr>
            </a:pPr>
            <a:r>
              <a:rPr sz="1350" b="0">
                <a:solidFill>
                  <a:srgbClr val="D79A2B"/>
                </a:solidFill>
              </a:rPr>
              <a:t>68.1%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48EF60-2550-4B70-BC1B-70E69B5F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57725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88.4%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F8B7ED0-9CD0-4F0D-A503-3C21BCBB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577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91.3%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4016041-9714-481B-9881-3D382BC1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57725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89.9%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9E1145-CBCC-4823-9BBE-94E28F99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858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F89E160-0C3D-4786-AD03-8DDA3524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4F"/>
                </a:solidFill>
              </a:defRPr>
            </a:pPr>
            <a:r>
              <a:rPr sz="1200" b="1">
                <a:solidFill>
                  <a:srgbClr val="16324F"/>
                </a:solidFill>
              </a:rPr>
              <a:t>Least → most deprived: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8F4DB77-0600-4C20-888C-4142F811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581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8F8A"/>
                </a:solidFill>
              </a:defRPr>
            </a:pPr>
            <a:r>
              <a:rPr sz="1275" b="1">
                <a:solidFill>
                  <a:srgbClr val="348F8A"/>
                </a:solidFill>
              </a:rPr>
              <a:t>continuity −5.4 points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FFC9324-A044-46AE-ABE1-80E4D3E2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816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324F"/>
                </a:solidFill>
              </a:defRPr>
            </a:pPr>
            <a:r>
              <a:rPr sz="1275" b="1">
                <a:solidFill>
                  <a:srgbClr val="16324F"/>
                </a:solidFill>
              </a:rPr>
              <a:t>overall experience −6.5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5C21B3B-83BD-4355-A337-A3CCA45F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581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9A2B"/>
                </a:solidFill>
              </a:defRPr>
            </a:pPr>
            <a:r>
              <a:rPr sz="1275" b="1">
                <a:solidFill>
                  <a:srgbClr val="D79A2B"/>
                </a:solidFill>
              </a:rPr>
              <a:t>acceptable wait −5.5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6ADBA56-B67C-4935-B494-9139BC41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8"/>
                </a:solidFill>
              </a:defRPr>
            </a:pPr>
            <a:r>
              <a:rPr sz="750" b="0">
                <a:solidFill>
                  <a:srgbClr val="5E6B78"/>
                </a:solidFill>
              </a:rPr>
              <a:t>Response-weighted practice averages; IMD 2025 quintiles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33B9EDC-41E7-4759-BB7E-8DF7DD77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B78"/>
                </a:solidFill>
              </a:defRPr>
            </a:pPr>
            <a:r>
              <a:rPr sz="825" b="1">
                <a:solidFill>
                  <a:srgbClr val="5E6B78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100959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977A19-7418-493B-8FB5-D68A9354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</a:defRPr>
            </a:pPr>
            <a:r>
              <a:rPr sz="975" b="1">
                <a:solidFill>
                  <a:srgbClr val="2F6B9A"/>
                </a:solidFill>
              </a:rPr>
              <a:t>RCGP POLICY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2D32B-0C8D-4566-A2AC-EC799B5F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24F"/>
                </a:solidFill>
              </a:defRPr>
            </a:pPr>
            <a:r>
              <a:rPr sz="2850" b="1">
                <a:solidFill>
                  <a:srgbClr val="16324F"/>
                </a:solidFill>
              </a:rPr>
              <a:t>The continuity–experience relationship persists within every deprivation quintile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AA2E8-C28D-42C7-86B1-B42A7854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B78"/>
                </a:solidFill>
              </a:defRPr>
            </a:pPr>
            <a:r>
              <a:rPr sz="900" b="1">
                <a:solidFill>
                  <a:srgbClr val="5E6B78"/>
                </a:solidFill>
              </a:rPr>
              <a:t>OUTCOME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A67FB-4B7C-49FB-81CE-0B081551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4668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E6B78"/>
                </a:solidFill>
              </a:defRPr>
            </a:pPr>
            <a:r>
              <a:rPr sz="900" b="1">
                <a:solidFill>
                  <a:srgbClr val="5E6B78"/>
                </a:solidFill>
              </a:rPr>
              <a:t>LEAST DEPRIVED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D19D9-23C4-4244-BAA5-F1EC93D0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4668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E6B78"/>
                </a:solidFill>
              </a:defRPr>
            </a:pPr>
            <a:r>
              <a:rPr sz="900" b="1">
                <a:solidFill>
                  <a:srgbClr val="5E6B78"/>
                </a:solidFill>
              </a:rPr>
              <a:t>Q2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B58E4-010B-4993-82EB-5DE66166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4668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E6B78"/>
                </a:solidFill>
              </a:defRPr>
            </a:pPr>
            <a:r>
              <a:rPr sz="900" b="1">
                <a:solidFill>
                  <a:srgbClr val="5E6B78"/>
                </a:solidFill>
              </a:rPr>
              <a:t>Q3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A612C-C342-4CCB-A969-5882D007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668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E6B78"/>
                </a:solidFill>
              </a:defRPr>
            </a:pPr>
            <a:r>
              <a:rPr sz="900" b="1">
                <a:solidFill>
                  <a:srgbClr val="5E6B78"/>
                </a:solidFill>
              </a:rPr>
              <a:t>Q4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0C88C-8598-4292-A0B8-22FF6018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668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E6B78"/>
                </a:solidFill>
              </a:defRPr>
            </a:pPr>
            <a:r>
              <a:rPr sz="900" b="1">
                <a:solidFill>
                  <a:srgbClr val="5E6B78"/>
                </a:solidFill>
              </a:rPr>
              <a:t>MOST DEPRIVED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AFC47-D6FD-4108-9013-980DB52F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85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75DD7-225F-48AD-BEBB-56E3FA06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Overall experience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5FEAE-0A65-4AFB-9603-EF36BE8F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574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2.84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3D4CA2-2ECA-4BCF-84E2-432F3D08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574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3.35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E4A54D-3A8B-43F8-A324-281BD15A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574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3.37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5A774-00B3-483B-BC1C-05CB0D33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574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3.33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86FF5A-1036-4710-BCF1-DAE7B0C3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574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3.27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4D63C7-D10D-45B5-8869-956E07E3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85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10CC13-A190-45FF-9969-75FA453C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Wait acceptable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7E786A-9200-4011-9F63-1A10698A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860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2.49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E20413-706D-4547-88BC-0C40C498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860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2.90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E75245-BFA5-47AE-9E2E-4ADBD0F2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2.96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BBA47B-DB3F-4EED-86D9-6781868E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2.84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8C08A1-30EA-4C4C-9599-5001DA47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860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2.93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8C6C3C-0D8D-4FD1-9438-678BCAF7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85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3EFDE5-4EE0-4DF9-B1DB-EEFBFC23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Needs met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C81B2C-692F-470E-81D8-A9012056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3147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0.84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0B12C5-EDB2-4E00-8330-F8B33B94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147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1.15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C6615E-D772-467C-9545-A98E551E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147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1.14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1BE49B-8CBE-4A6A-A6A9-AB453689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147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1.19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5A45E1-DD00-4C06-9AA5-1F6857E6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147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1.16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BE6568-28BE-4973-AF99-C947C14D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85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B66775-7E0A-412B-AEF2-983A9107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Trust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CEF512-4D0F-4539-BF89-E7ABED88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9433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0.65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07B992-D61E-4184-9434-3802C33A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9433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0.98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23BBE8-EB08-42F9-A830-26A95854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433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1.01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BF03F4-D2C0-492B-B1E1-11D6972E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433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0.94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6380EB-A76B-4EE8-84D6-950E5866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9433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0.95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A7B361-21D2-4F2D-A127-1DB6EE64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85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EA4280-8543-475B-8291-39EFF025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Involvement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A4C4C3-6CCD-497D-8D75-A87CD612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5720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0.83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AA7AF3-5AF5-48A3-A148-C0906F2C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5720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0.97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8403CA-43B7-4E2B-8C89-4DDC99BB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720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1.11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4D9CC4-C003-43F6-A294-EC1A9C17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720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1.06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8EB91C-D412-434F-BFAA-22258E0D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5720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1.01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7C24B5-AE58-49E4-A607-8F03104E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858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8315E6-735B-4B0B-8906-50A78C65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4F"/>
                </a:solidFill>
              </a:defRPr>
            </a:pPr>
            <a:r>
              <a:rPr sz="1200" b="1">
                <a:solidFill>
                  <a:srgbClr val="16324F"/>
                </a:solidFill>
              </a:rPr>
              <a:t>Figures are percentage-point differences associated with a 10-point increase in continuity.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39D40E-C24E-4627-8419-1855BE48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Separate weighted models within each quintile; each also includes patient-reported same/next-day interval.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120979-A363-43A9-832F-99561060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8"/>
                </a:solidFill>
              </a:defRPr>
            </a:pPr>
            <a:r>
              <a:rPr sz="750" b="0">
                <a:solidFill>
                  <a:srgbClr val="5E6B78"/>
                </a:solidFill>
              </a:rPr>
              <a:t>Weighted models fitted separately within each practice deprivation quintile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A436B04-9F3B-427B-B7CB-8EB224CD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B78"/>
                </a:solidFill>
              </a:defRPr>
            </a:pPr>
            <a:r>
              <a:rPr sz="825" b="1">
                <a:solidFill>
                  <a:srgbClr val="5E6B78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11316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4540EB-BFDA-40FE-A27E-3A95ABB2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</a:defRPr>
            </a:pPr>
            <a:r>
              <a:rPr sz="975" b="1">
                <a:solidFill>
                  <a:srgbClr val="2F6B9A"/>
                </a:solidFill>
              </a:rPr>
              <a:t>RCGP POLICY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31B35-DF6F-4095-9BCA-6C6E4893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24F"/>
                </a:solidFill>
              </a:defRPr>
            </a:pPr>
            <a:r>
              <a:rPr sz="2850" b="1">
                <a:solidFill>
                  <a:srgbClr val="16324F"/>
                </a:solidFill>
              </a:rPr>
              <a:t>The adjusted models test timing and continuity separately and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77668-99E3-493D-8A32-5C09924B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B78"/>
                </a:solidFill>
              </a:defRPr>
            </a:pPr>
            <a:r>
              <a:rPr sz="1050" b="1">
                <a:solidFill>
                  <a:srgbClr val="5E6B78"/>
                </a:solidFill>
              </a:rPr>
              <a:t>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AE13A-4166-4D18-82EC-F89F4770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097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B78"/>
                </a:solidFill>
              </a:defRPr>
            </a:pPr>
            <a:r>
              <a:rPr sz="1050" b="1">
                <a:solidFill>
                  <a:srgbClr val="5E6B78"/>
                </a:solidFill>
              </a:rPr>
              <a:t>GPPS MEASURES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8E075-3EC6-44F5-BD96-32E2424B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B78"/>
                </a:solidFill>
              </a:defRPr>
            </a:pPr>
            <a:r>
              <a:rPr sz="1050" b="1">
                <a:solidFill>
                  <a:srgbClr val="5E6B78"/>
                </a:solidFill>
              </a:rPr>
              <a:t>GPAD MEASURE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E0738-C309-4A5E-8740-FE27F946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2137E-3F0D-4009-9892-7E675A69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Model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0471B-7D4E-4727-AAE1-5942E59D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621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Continuity + GPPS interval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D86D5-B9C0-4F3A-93D6-79584A2E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621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86879-DD98-41BD-97BC-EDD461DE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1EB7C-C3BC-4F36-964F-253FC798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Model 2a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28C3E-7052-4DF5-8F7A-E73F4FA0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432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Continuity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972122-969F-4ED3-920B-8556A6DB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43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GPAD: all attended appointments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B8525-B4D0-4C51-9C21-CA480129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106FD4-8676-4DBD-93B8-AAD93B52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Model 2b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126E5B-9CCE-447A-B9CA-E8B5857F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242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Continuity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0B7EFF-3DD5-46E5-8E91-2B944F18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24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GPAD: attended GP appointments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ED4D19-545F-4F93-91E8-31B29F1D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E81260-E7B7-459F-8F81-440D8BAE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Model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8719D3-7954-4426-A78F-6BFB4FE3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053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Continuity + GPPS interval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0DC0A-BF5B-41B0-8652-AD3D8091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305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GPAD: all attended appointments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64A5ED-FBC6-4850-A246-6DD83917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C05577-5DD2-423D-A546-BAC44EC6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All models adjust for deprivation, log list size, patient age profile, rurality and dispensing status.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B8F92F-46EA-41D6-99FA-01A4681A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8"/>
                </a:solidFill>
              </a:defRPr>
            </a:pPr>
            <a:r>
              <a:rPr sz="750" b="0">
                <a:solidFill>
                  <a:srgbClr val="5E6B78"/>
                </a:solidFill>
              </a:rPr>
              <a:t>Weighted practice-level linear models; approximately 5,800 practices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AF4ED6-D343-4A39-AC12-AA4FD191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B78"/>
                </a:solidFill>
              </a:defRPr>
            </a:pPr>
            <a:r>
              <a:rPr sz="825" b="1">
                <a:solidFill>
                  <a:srgbClr val="5E6B78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792646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7EC01C-B231-4D25-91B9-CED4BB89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</a:defRPr>
            </a:pPr>
            <a:r>
              <a:rPr sz="975" b="1">
                <a:solidFill>
                  <a:srgbClr val="2F6B9A"/>
                </a:solidFill>
              </a:rPr>
              <a:t>RCGP POLICY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A7601-7D38-43E6-90F4-09176AF5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24F"/>
                </a:solidFill>
              </a:defRPr>
            </a:pPr>
            <a:r>
              <a:rPr sz="2850" b="1">
                <a:solidFill>
                  <a:srgbClr val="16324F"/>
                </a:solidFill>
              </a:rPr>
              <a:t>Adjusted results separate the wait from the experience of care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617A8-9D2A-4846-8624-9BFC6ADB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13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B78"/>
                </a:solidFill>
              </a:defRPr>
            </a:pPr>
            <a:r>
              <a:rPr sz="975" b="1">
                <a:solidFill>
                  <a:srgbClr val="5E6B78"/>
                </a:solidFill>
              </a:rPr>
              <a:t>OUTCOME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638CB-BCE3-4B05-9B29-CE3088FA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6685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48F8A"/>
                </a:solidFill>
              </a:defRPr>
            </a:pPr>
            <a:r>
              <a:rPr sz="975" b="1">
                <a:solidFill>
                  <a:srgbClr val="348F8A"/>
                </a:solidFill>
              </a:rPr>
              <a:t>CONTINUITY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1A9EB-3B18-4302-B7A6-23825CC4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46685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B9A"/>
                </a:solidFill>
              </a:defRPr>
            </a:pPr>
            <a:r>
              <a:rPr sz="975" b="1">
                <a:solidFill>
                  <a:srgbClr val="2F6B9A"/>
                </a:solidFill>
              </a:rPr>
              <a:t>GPPS INTERVAL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49F6A-D4B1-40DC-BD75-BA84360E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6685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79A2B"/>
                </a:solidFill>
              </a:defRPr>
            </a:pPr>
            <a:r>
              <a:rPr sz="975" b="1">
                <a:solidFill>
                  <a:srgbClr val="D79A2B"/>
                </a:solidFill>
              </a:rPr>
              <a:t>GPAD INTERVAL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6E07D-6117-4F68-BA00-6404CC23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85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99C92-B5E2-44C7-B282-E38B0C24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2882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Overall experience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03A4B2-651B-4105-AE61-B17FC71B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2882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48F8A"/>
                </a:solidFill>
              </a:defRPr>
            </a:pPr>
            <a:r>
              <a:rPr sz="1500" b="1">
                <a:solidFill>
                  <a:srgbClr val="348F8A"/>
                </a:solidFill>
              </a:rPr>
              <a:t>+2.9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D8CC0-DB26-4912-9B6B-4D064948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2882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6B9A"/>
                </a:solidFill>
              </a:defRPr>
            </a:pPr>
            <a:r>
              <a:rPr sz="1500" b="0">
                <a:solidFill>
                  <a:srgbClr val="2F6B9A"/>
                </a:solidFill>
              </a:rPr>
              <a:t>+2.0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1C35E8-17B6-4922-8A27-2E4EA5A5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288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79A2B"/>
                </a:solidFill>
              </a:defRPr>
            </a:pPr>
            <a:r>
              <a:rPr sz="1500" b="0">
                <a:solidFill>
                  <a:srgbClr val="D79A2B"/>
                </a:solidFill>
              </a:rPr>
              <a:t>−0.7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80B1A-2F6E-40F4-81B8-ACAF5250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85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7CC71-306B-4D4C-BD61-181CA408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Wait acceptable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F6353-B096-441B-859D-65022267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7652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48F8A"/>
                </a:solidFill>
              </a:defRPr>
            </a:pPr>
            <a:r>
              <a:rPr sz="1500" b="1">
                <a:solidFill>
                  <a:srgbClr val="348F8A"/>
                </a:solidFill>
              </a:rPr>
              <a:t>+2.5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8BBECB-9D30-4DF4-AE75-A12265C0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7652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6B9A"/>
                </a:solidFill>
              </a:defRPr>
            </a:pPr>
            <a:r>
              <a:rPr sz="1500" b="0">
                <a:solidFill>
                  <a:srgbClr val="2F6B9A"/>
                </a:solidFill>
              </a:rPr>
              <a:t>+5.6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AC2D1C-1C87-4D16-9628-A5F8C946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765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79A2B"/>
                </a:solidFill>
              </a:defRPr>
            </a:pPr>
            <a:r>
              <a:rPr sz="1500" b="0">
                <a:solidFill>
                  <a:srgbClr val="D79A2B"/>
                </a:solidFill>
              </a:rPr>
              <a:t>+0.2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BC234C-EA38-4AC7-89D9-983EC9BC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85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912D18-D1C6-4339-8B0D-10A482F8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2422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Needs met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A9C529-A248-4F5A-A5CD-D5B9D503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2422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48F8A"/>
                </a:solidFill>
              </a:defRPr>
            </a:pPr>
            <a:r>
              <a:rPr sz="1500" b="1">
                <a:solidFill>
                  <a:srgbClr val="348F8A"/>
                </a:solidFill>
              </a:rPr>
              <a:t>+1.0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942F5C-7ED7-4302-AD03-98BA99A7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2422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6B9A"/>
                </a:solidFill>
              </a:defRPr>
            </a:pPr>
            <a:r>
              <a:rPr sz="1500" b="0">
                <a:solidFill>
                  <a:srgbClr val="2F6B9A"/>
                </a:solidFill>
              </a:rPr>
              <a:t>+0.8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B00A5C-288D-499E-828A-0E4270B3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242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79A2B"/>
                </a:solidFill>
              </a:defRPr>
            </a:pPr>
            <a:r>
              <a:rPr sz="1500" b="0">
                <a:solidFill>
                  <a:srgbClr val="D79A2B"/>
                </a:solidFill>
              </a:rPr>
              <a:t>−0.2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387FEA-1302-446C-A28C-FBF10EE2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85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8EE6C2-FBD0-4D59-92B8-3887F171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7192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Trust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0C058-E34F-4F36-9256-90316963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97192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48F8A"/>
                </a:solidFill>
              </a:defRPr>
            </a:pPr>
            <a:r>
              <a:rPr sz="1500" b="1">
                <a:solidFill>
                  <a:srgbClr val="348F8A"/>
                </a:solidFill>
              </a:rPr>
              <a:t>+0.9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608422-199C-4910-9ACC-F588A552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7192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6B9A"/>
                </a:solidFill>
              </a:defRPr>
            </a:pPr>
            <a:r>
              <a:rPr sz="1500" b="0">
                <a:solidFill>
                  <a:srgbClr val="2F6B9A"/>
                </a:solidFill>
              </a:rPr>
              <a:t>+0.5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19D6FB-410E-4A24-AC2A-0ED384DB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719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79A2B"/>
                </a:solidFill>
              </a:defRPr>
            </a:pPr>
            <a:r>
              <a:rPr sz="1500" b="0">
                <a:solidFill>
                  <a:srgbClr val="D79A2B"/>
                </a:solidFill>
              </a:rPr>
              <a:t>−0.2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67426B-A486-482E-AB45-DAEE3AB6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85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A0A6E2-D382-467A-A80A-91B52886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962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Involvement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7B25DA-BBCF-4EC9-AA3C-5420B128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1962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48F8A"/>
                </a:solidFill>
              </a:defRPr>
            </a:pPr>
            <a:r>
              <a:rPr sz="1500" b="1">
                <a:solidFill>
                  <a:srgbClr val="348F8A"/>
                </a:solidFill>
              </a:rPr>
              <a:t>+0.9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76F525-3F27-42D5-A0CE-D9EA7D67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1962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6B9A"/>
                </a:solidFill>
              </a:defRPr>
            </a:pPr>
            <a:r>
              <a:rPr sz="1500" b="0">
                <a:solidFill>
                  <a:srgbClr val="2F6B9A"/>
                </a:solidFill>
              </a:rPr>
              <a:t>+0.4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7FC114-850D-4BC8-A770-8881DF89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196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79A2B"/>
                </a:solidFill>
              </a:defRPr>
            </a:pPr>
            <a:r>
              <a:rPr sz="1500" b="0">
                <a:solidFill>
                  <a:srgbClr val="D79A2B"/>
                </a:solidFill>
              </a:rPr>
              <a:t>−0.2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1845C9-F25B-4992-8CC9-DBEB6D44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867898-724B-4D2A-BE8E-B0073554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324F"/>
                </a:solidFill>
              </a:defRPr>
            </a:pPr>
            <a:r>
              <a:rPr sz="1275" b="1">
                <a:solidFill>
                  <a:srgbClr val="16324F"/>
                </a:solidFill>
              </a:rPr>
              <a:t>Continuity is larger for four care-experience outcomes; GPPS timing is largest for acceptable waiting.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46CC2A-397C-41EE-A415-1322A29C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Percentage-point difference per 10-point increase; Model 3 includes all three measures and the five background adjustments.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47BB16-F1C2-4B0F-8CE5-FEFDEDD2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8"/>
                </a:solidFill>
              </a:defRPr>
            </a:pPr>
            <a:r>
              <a:rPr sz="750" b="0">
                <a:solidFill>
                  <a:srgbClr val="5E6B78"/>
                </a:solidFill>
              </a:rPr>
              <a:t>Percentage-point difference per 10-point increase; fully adjusted combined model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B0E80F-D143-42DF-904B-084EA0A6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B78"/>
                </a:solidFill>
              </a:defRPr>
            </a:pPr>
            <a:r>
              <a:rPr sz="825" b="1">
                <a:solidFill>
                  <a:srgbClr val="5E6B78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659779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EC5D49-FC05-4DD5-AFCA-C103716B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</a:defRPr>
            </a:pPr>
            <a:r>
              <a:rPr sz="975" b="1">
                <a:solidFill>
                  <a:srgbClr val="2F6B9A"/>
                </a:solidFill>
              </a:rPr>
              <a:t>RCGP POLICY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34738-1B47-4D3B-B1D2-B1B5FC42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24F"/>
                </a:solidFill>
              </a:defRPr>
            </a:pPr>
            <a:r>
              <a:rPr sz="2850" b="1">
                <a:solidFill>
                  <a:srgbClr val="16324F"/>
                </a:solidFill>
              </a:rPr>
              <a:t>Implications for RCGP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51166-22F0-4150-8888-57C6DB6F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9A2B"/>
                </a:solidFill>
              </a:defRPr>
            </a:pPr>
            <a:r>
              <a:rPr sz="1800" b="1">
                <a:solidFill>
                  <a:srgbClr val="D79A2B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F0BD6-4688-408D-A066-86A8E6BD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5049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24F"/>
                </a:solidFill>
              </a:defRPr>
            </a:pPr>
            <a:r>
              <a:rPr sz="1725" b="1">
                <a:solidFill>
                  <a:srgbClr val="16324F"/>
                </a:solidFill>
              </a:rPr>
              <a:t>Report three measures separately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353FC-C411-473A-B701-0DD07147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049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Appointment interval, acceptable waiting and continuity are empirically distinct.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2884C-74B7-4F06-981D-D95B7390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28850"/>
            <a:ext cx="1007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34FBA-0B20-4EEB-AD2F-3451708C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9A2B"/>
                </a:solidFill>
              </a:defRPr>
            </a:pPr>
            <a:r>
              <a:rPr sz="1800" b="1">
                <a:solidFill>
                  <a:srgbClr val="D79A2B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34879-0A88-460D-A804-D73BDDAC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717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24F"/>
                </a:solidFill>
              </a:defRPr>
            </a:pPr>
            <a:r>
              <a:rPr sz="1725" b="1">
                <a:solidFill>
                  <a:srgbClr val="16324F"/>
                </a:solidFill>
              </a:rPr>
              <a:t>Make deprivation visible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91FF5-7E48-4D19-A03A-88753A45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717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More deprived practices have lower achieved continuity and worse experience.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1B803-1902-455A-A626-99376096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95650"/>
            <a:ext cx="1007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A47A2-D9D8-43C3-A6B4-68653045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9A2B"/>
                </a:solidFill>
              </a:defRPr>
            </a:pPr>
            <a:r>
              <a:rPr sz="1800" b="1">
                <a:solidFill>
                  <a:srgbClr val="D79A2B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089AC3-0193-4FD7-93D6-BB6DDD47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24F"/>
                </a:solidFill>
              </a:defRPr>
            </a:pPr>
            <a:r>
              <a:rPr sz="1725" b="1">
                <a:solidFill>
                  <a:srgbClr val="16324F"/>
                </a:solidFill>
              </a:rPr>
              <a:t>Protect continuity in access reform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A391CA-C2A7-4655-A325-9D99A183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385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Timing targets should be assessed alongside relational continuity.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98722-84F8-47CA-8FB8-03EECEBC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62450"/>
            <a:ext cx="1007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110C5-5319-4FA5-BEF4-9C605CD7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9A2B"/>
                </a:solidFill>
              </a:defRPr>
            </a:pPr>
            <a:r>
              <a:rPr sz="1800" b="1">
                <a:solidFill>
                  <a:srgbClr val="D79A2B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D3A13B-9060-4B61-AD60-8A39120F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24F"/>
                </a:solidFill>
              </a:defRPr>
            </a:pPr>
            <a:r>
              <a:rPr sz="1725" b="1">
                <a:solidFill>
                  <a:srgbClr val="16324F"/>
                </a:solidFill>
              </a:rPr>
              <a:t>Use GPAD for robustness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5D14D4-8ED3-4C8C-B4BB-34DCF085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053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It tests appointment timing independently; booking interval remains only one component of access.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1E911F-D800-4500-901C-55FD0FEE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29250"/>
            <a:ext cx="1007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305EE5-5059-4016-972F-C660770D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388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8"/>
                </a:solidFill>
              </a:defRPr>
            </a:pPr>
            <a:r>
              <a:rPr sz="975" b="0">
                <a:solidFill>
                  <a:srgbClr val="5E6B78"/>
                </a:solidFill>
              </a:rPr>
              <a:t>Evidence base: GPPS 2026 practice results; GPAD January–February 2026; IMD 2025; NHS practice characteristics.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FB1E8B-4F52-4961-9E59-471EBB86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8"/>
                </a:solidFill>
              </a:defRPr>
            </a:pPr>
            <a:r>
              <a:rPr sz="750" b="0">
                <a:solidFill>
                  <a:srgbClr val="5E6B78"/>
                </a:solidFill>
              </a:rPr>
              <a:t>Cross-sectional practice-level associations; results do not establish causation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C33943-94FA-4BC4-AF8F-8550261D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B78"/>
                </a:solidFill>
              </a:defRPr>
            </a:pPr>
            <a:r>
              <a:rPr sz="825" b="1">
                <a:solidFill>
                  <a:srgbClr val="5E6B78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569700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2026-07-22T22:41:43.8380000Z</dcterms:created>
  <dcterms:modified xsi:type="dcterms:W3CDTF">2026-07-22T22:41:43.8380000Z</dcterms:modified>
</coreProperties>
</file>