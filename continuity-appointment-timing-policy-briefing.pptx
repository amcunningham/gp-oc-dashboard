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891e5ba1e84d3b" /><Relationship Type="http://schemas.openxmlformats.org/officeDocument/2006/relationships/extended-properties" Target="/docProps/app.xml" Id="R4863cf99b0e847e7" /><Relationship Type="http://schemas.openxmlformats.org/officeDocument/2006/relationships/officeDocument" Target="/ppt/presentation.xml" Id="R0fabff528d1c49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422f9356743db"/>
  </p:sldMasterIdLst>
  <p:notesMasterIdLst>
    <p:notesMasterId xmlns:r="http://schemas.openxmlformats.org/officeDocument/2006/relationships" r:id="Ra1445ba95c784c01"/>
  </p:notesMasterIdLst>
  <p:sldIdLst>
    <p:sldId xmlns:r="http://schemas.openxmlformats.org/officeDocument/2006/relationships" id="256" r:id="R0305ac279f474e87"/>
    <p:sldId xmlns:r="http://schemas.openxmlformats.org/officeDocument/2006/relationships" id="257" r:id="R8c0960a4d00c4f4f"/>
    <p:sldId xmlns:r="http://schemas.openxmlformats.org/officeDocument/2006/relationships" id="258" r:id="Rd0382be36fc24fc0"/>
    <p:sldId xmlns:r="http://schemas.openxmlformats.org/officeDocument/2006/relationships" id="259" r:id="Rbe811eb33f0448bc"/>
    <p:sldId xmlns:r="http://schemas.openxmlformats.org/officeDocument/2006/relationships" id="260" r:id="Rc35b9bbecd0e4395"/>
    <p:sldId xmlns:r="http://schemas.openxmlformats.org/officeDocument/2006/relationships" id="261" r:id="R9df422835fbd4372"/>
    <p:sldId xmlns:r="http://schemas.openxmlformats.org/officeDocument/2006/relationships" id="262" r:id="R88437ac65eed4827"/>
    <p:sldId xmlns:r="http://schemas.openxmlformats.org/officeDocument/2006/relationships" id="263" r:id="R8d32de03802740d3"/>
    <p:sldId xmlns:r="http://schemas.openxmlformats.org/officeDocument/2006/relationships" id="264" r:id="R4b2ebb0e0d5f461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d2a0e245747bf" /><Relationship Type="http://schemas.openxmlformats.org/officeDocument/2006/relationships/slideMaster" Target="/ppt/slideMasters/slideMaster1.xml" Id="Rd1f422f9356743db" /><Relationship Type="http://schemas.openxmlformats.org/officeDocument/2006/relationships/notesMaster" Target="/ppt/notesMasters/notesMaster1.xml" Id="Ra1445ba95c784c01" /><Relationship Type="http://schemas.openxmlformats.org/officeDocument/2006/relationships/presProps" Target="/ppt/presProps.xml" Id="R5b399cebc80342d3" /><Relationship Type="http://schemas.openxmlformats.org/officeDocument/2006/relationships/tableStyles" Target="/ppt/tableStyles.xml" Id="Rd82808eadd0741c5" /><Relationship Type="http://schemas.openxmlformats.org/officeDocument/2006/relationships/slide" Target="/ppt/slides/slide1.xml" Id="R0305ac279f474e87" /><Relationship Type="http://schemas.openxmlformats.org/officeDocument/2006/relationships/slide" Target="/ppt/slides/slide2.xml" Id="R8c0960a4d00c4f4f" /><Relationship Type="http://schemas.openxmlformats.org/officeDocument/2006/relationships/slide" Target="/ppt/slides/slide3.xml" Id="Rd0382be36fc24fc0" /><Relationship Type="http://schemas.openxmlformats.org/officeDocument/2006/relationships/slide" Target="/ppt/slides/slide4.xml" Id="Rbe811eb33f0448bc" /><Relationship Type="http://schemas.openxmlformats.org/officeDocument/2006/relationships/slide" Target="/ppt/slides/slide5.xml" Id="Rc35b9bbecd0e4395" /><Relationship Type="http://schemas.openxmlformats.org/officeDocument/2006/relationships/slide" Target="/ppt/slides/slide6.xml" Id="R9df422835fbd4372" /><Relationship Type="http://schemas.openxmlformats.org/officeDocument/2006/relationships/slide" Target="/ppt/slides/slide7.xml" Id="R88437ac65eed4827" /><Relationship Type="http://schemas.openxmlformats.org/officeDocument/2006/relationships/slide" Target="/ppt/slides/slide8.xml" Id="R8d32de03802740d3" /><Relationship Type="http://schemas.openxmlformats.org/officeDocument/2006/relationships/slide" Target="/ppt/slides/slide9.xml" Id="R4b2ebb0e0d5f46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ed8be5363d49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dd37e547074ee0" /><Relationship Type="http://schemas.openxmlformats.org/officeDocument/2006/relationships/notesMaster" Target="/ppt/notesMasters/notesMaster1.xml" Id="R742be38b63e942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ebc2c2818c4bac" /><Relationship Type="http://schemas.openxmlformats.org/officeDocument/2006/relationships/notesMaster" Target="/ppt/notesMasters/notesMaster1.xml" Id="R174ef68d26c040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6ebbc94ed484a" /><Relationship Type="http://schemas.openxmlformats.org/officeDocument/2006/relationships/notesMaster" Target="/ppt/notesMasters/notesMaster1.xml" Id="R1f1113baac7b4d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43cc2ed794d3b" /><Relationship Type="http://schemas.openxmlformats.org/officeDocument/2006/relationships/notesMaster" Target="/ppt/notesMasters/notesMaster1.xml" Id="R76991429d706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d54e5f17314088" /><Relationship Type="http://schemas.openxmlformats.org/officeDocument/2006/relationships/notesMaster" Target="/ppt/notesMasters/notesMaster1.xml" Id="R690296f4aace4e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721415df8142c6" /><Relationship Type="http://schemas.openxmlformats.org/officeDocument/2006/relationships/notesMaster" Target="/ppt/notesMasters/notesMaster1.xml" Id="R9028177e41c649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4cc912d5844f31" /><Relationship Type="http://schemas.openxmlformats.org/officeDocument/2006/relationships/notesMaster" Target="/ppt/notesMasters/notesMaster1.xml" Id="R3d69e520db6f43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81d005f6144101" /><Relationship Type="http://schemas.openxmlformats.org/officeDocument/2006/relationships/notesMaster" Target="/ppt/notesMasters/notesMaster1.xml" Id="R5a568bb9521d4b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b1b3eaf7ed47f1" /><Relationship Type="http://schemas.openxmlformats.org/officeDocument/2006/relationships/notesMaster" Target="/ppt/notesMasters/notesMaster1.xml" Id="Rbde479ff1f99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8a1f3e5d8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522a17a06f458b" /><Relationship Type="http://schemas.openxmlformats.org/officeDocument/2006/relationships/slideLayout" Target="/ppt/slideLayouts/slideLayout1.xml" Id="Racd9551fbb904c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d9551fbb904c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9046abe7d4769" /><Relationship Type="http://schemas.openxmlformats.org/officeDocument/2006/relationships/notesSlide" Target="/ppt/notesSlides/notesSlide1.xml" Id="Rf667672df36342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d4859923140b1" /><Relationship Type="http://schemas.openxmlformats.org/officeDocument/2006/relationships/notesSlide" Target="/ppt/notesSlides/notesSlide2.xml" Id="R3464d29e8c8e41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71fe152e9412c" /><Relationship Type="http://schemas.openxmlformats.org/officeDocument/2006/relationships/chart" Target="/ppt/slides/charts/chart1.xml" Id="R0d49e6bcd6934e7f" /><Relationship Type="http://schemas.openxmlformats.org/officeDocument/2006/relationships/notesSlide" Target="/ppt/notesSlides/notesSlide3.xml" Id="R542f887ef5c747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9feabaea4735" /><Relationship Type="http://schemas.openxmlformats.org/officeDocument/2006/relationships/chart" Target="/ppt/slides/charts/chart2.xml" Id="R1848699645024957" /><Relationship Type="http://schemas.openxmlformats.org/officeDocument/2006/relationships/notesSlide" Target="/ppt/notesSlides/notesSlide4.xml" Id="R7e598d938c1d4f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ab024cf684f15" /><Relationship Type="http://schemas.openxmlformats.org/officeDocument/2006/relationships/chart" Target="/ppt/slides/charts/chart3.xml" Id="R2b620218f6814d04" /><Relationship Type="http://schemas.openxmlformats.org/officeDocument/2006/relationships/notesSlide" Target="/ppt/notesSlides/notesSlide5.xml" Id="Rda177799f90140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ad9f6fd914849" /><Relationship Type="http://schemas.openxmlformats.org/officeDocument/2006/relationships/chart" Target="/ppt/slides/charts/chart4.xml" Id="Rf0d59f78314b4337" /><Relationship Type="http://schemas.openxmlformats.org/officeDocument/2006/relationships/notesSlide" Target="/ppt/notesSlides/notesSlide6.xml" Id="R622cf5d86ff34f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c10b0da8544d5" /><Relationship Type="http://schemas.openxmlformats.org/officeDocument/2006/relationships/notesSlide" Target="/ppt/notesSlides/notesSlide7.xml" Id="Rc4969b0a952a42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5261c9544dff" /><Relationship Type="http://schemas.openxmlformats.org/officeDocument/2006/relationships/chart" Target="/ppt/slides/charts/chart5.xml" Id="R4fdee951cebc45cc" /><Relationship Type="http://schemas.openxmlformats.org/officeDocument/2006/relationships/notesSlide" Target="/ppt/notesSlides/notesSlide8.xml" Id="R9847c87a8a8e41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df11560c5494f" /><Relationship Type="http://schemas.openxmlformats.org/officeDocument/2006/relationships/notesSlide" Target="/ppt/notesSlides/notesSlide9.xml" Id="R590a797253e84bc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Continuity: top 10%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87.5</c:v>
              </c:pt>
              <c:pt idx="1">
                <c:v>80</c:v>
              </c:pt>
              <c:pt idx="2">
                <c:v>94.4</c:v>
              </c:pt>
              <c:pt idx="3">
                <c:v>95.8</c:v>
              </c:pt>
              <c:pt idx="4">
                <c:v>95.3</c:v>
              </c:pt>
            </c:numLit>
          </c:val>
        </c:ser>
        <c:ser>
          <c:idx val="1"/>
          <c:order val="1"/>
          <c:tx>
            <c:v>Same/next-day: top 10%</c:v>
          </c:tx>
          <c:spPr>
            <a:solidFill xmlns:a="http://schemas.openxmlformats.org/drawingml/2006/main">
              <a:srgbClr val="2F6B9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81.9</c:v>
              </c:pt>
              <c:pt idx="1">
                <c:v>83.5</c:v>
              </c:pt>
              <c:pt idx="2">
                <c:v>92.1</c:v>
              </c:pt>
              <c:pt idx="3">
                <c:v>93.7</c:v>
              </c:pt>
              <c:pt idx="4">
                <c:v>92.5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Has a preferred professional</c:v>
          </c:tx>
          <c:spPr>
            <a:solidFill xmlns:a="http://schemas.openxmlformats.org/drawingml/2006/main">
              <a:srgbClr val="D79A2B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30.3</c:v>
              </c:pt>
              <c:pt idx="1">
                <c:v>30.5</c:v>
              </c:pt>
              <c:pt idx="2">
                <c:v>30.2</c:v>
              </c:pt>
              <c:pt idx="3">
                <c:v>31.7</c:v>
              </c:pt>
              <c:pt idx="4">
                <c:v>34.2</c:v>
              </c:pt>
            </c:numLit>
          </c:val>
        </c:ser>
        <c:ser>
          <c:idx val="1"/>
          <c:order val="1"/>
          <c:tx>
            <c:v>Regularly sees preferred professional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45.9</c:v>
              </c:pt>
              <c:pt idx="1">
                <c:v>43.7</c:v>
              </c:pt>
              <c:pt idx="2">
                <c:v>41.3</c:v>
              </c:pt>
              <c:pt idx="3">
                <c:v>38.9</c:v>
              </c:pt>
              <c:pt idx="4">
                <c:v>38.5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Continuity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45.5</c:v>
              </c:pt>
              <c:pt idx="1">
                <c:v>44.4</c:v>
              </c:pt>
              <c:pt idx="2">
                <c:v>42.4</c:v>
              </c:pt>
              <c:pt idx="3">
                <c:v>40.6</c:v>
              </c:pt>
              <c:pt idx="4">
                <c:v>40.1</c:v>
              </c:pt>
            </c:numLit>
          </c:val>
        </c:ser>
        <c:ser>
          <c:idx val="1"/>
          <c:order val="1"/>
          <c:tx>
            <c:v>Overall experience</c:v>
          </c:tx>
          <c:spPr>
            <a:solidFill xmlns:a="http://schemas.openxmlformats.org/drawingml/2006/main">
              <a:srgbClr val="16324F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81.5</c:v>
              </c:pt>
              <c:pt idx="1">
                <c:v>80</c:v>
              </c:pt>
              <c:pt idx="2">
                <c:v>77.9</c:v>
              </c:pt>
              <c:pt idx="3">
                <c:v>76.4</c:v>
              </c:pt>
              <c:pt idx="4">
                <c:v>75</c:v>
              </c:pt>
            </c:numLit>
          </c:val>
        </c:ser>
        <c:ser>
          <c:idx val="2"/>
          <c:order val="2"/>
          <c:tx>
            <c:v>Wait acceptable</c:v>
          </c:tx>
          <c:spPr>
            <a:solidFill xmlns:a="http://schemas.openxmlformats.org/drawingml/2006/main">
              <a:srgbClr val="D79A2B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73.6</c:v>
              </c:pt>
              <c:pt idx="1">
                <c:v>72</c:v>
              </c:pt>
              <c:pt idx="2">
                <c:v>70.8</c:v>
              </c:pt>
              <c:pt idx="3">
                <c:v>69.1</c:v>
              </c:pt>
              <c:pt idx="4">
                <c:v>68.1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Overall experience</c:v>
          </c:tx>
          <c:spPr>
            <a:solidFill xmlns:a="http://schemas.openxmlformats.org/drawingml/2006/main">
              <a:srgbClr val="16324F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2.84</c:v>
              </c:pt>
              <c:pt idx="1">
                <c:v>3.35</c:v>
              </c:pt>
              <c:pt idx="2">
                <c:v>3.37</c:v>
              </c:pt>
              <c:pt idx="3">
                <c:v>3.33</c:v>
              </c:pt>
              <c:pt idx="4">
                <c:v>3.27</c:v>
              </c:pt>
            </c:numLit>
          </c:val>
        </c:ser>
        <c:ser>
          <c:idx val="1"/>
          <c:order val="1"/>
          <c:tx>
            <c:v>Wait acceptable</c:v>
          </c:tx>
          <c:spPr>
            <a:solidFill xmlns:a="http://schemas.openxmlformats.org/drawingml/2006/main">
              <a:srgbClr val="D79A2B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2.49</c:v>
              </c:pt>
              <c:pt idx="1">
                <c:v>2.9</c:v>
              </c:pt>
              <c:pt idx="2">
                <c:v>2.96</c:v>
              </c:pt>
              <c:pt idx="3">
                <c:v>2.84</c:v>
              </c:pt>
              <c:pt idx="4">
                <c:v>2.93</c:v>
              </c:pt>
            </c:numLit>
          </c:val>
        </c:ser>
        <c:ser>
          <c:idx val="2"/>
          <c:order val="2"/>
          <c:tx>
            <c:v>Needs met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Least deprived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Most deprived</c:v>
              </c:pt>
            </c:strLit>
          </c:cat>
          <c:val>
            <c:numLit>
              <c:formatCode>General</c:formatCode>
              <c:ptCount val="5"/>
              <c:pt idx="0">
                <c:v>0.84</c:v>
              </c:pt>
              <c:pt idx="1">
                <c:v>1.15</c:v>
              </c:pt>
              <c:pt idx="2">
                <c:v>1.14</c:v>
              </c:pt>
              <c:pt idx="3">
                <c:v>1.19</c:v>
              </c:pt>
              <c:pt idx="4">
                <c:v>1.16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Continuity</c:v>
          </c:tx>
          <c:spPr>
            <a:solidFill xmlns:a="http://schemas.openxmlformats.org/drawingml/2006/main">
              <a:srgbClr val="348F8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2.9</c:v>
              </c:pt>
              <c:pt idx="1">
                <c:v>2.5</c:v>
              </c:pt>
              <c:pt idx="2">
                <c:v>1</c:v>
              </c:pt>
              <c:pt idx="3">
                <c:v>0.9</c:v>
              </c:pt>
              <c:pt idx="4">
                <c:v>0.9</c:v>
              </c:pt>
            </c:numLit>
          </c:val>
        </c:ser>
        <c:ser>
          <c:idx val="1"/>
          <c:order val="1"/>
          <c:tx>
            <c:v>GPPS interval</c:v>
          </c:tx>
          <c:spPr>
            <a:solidFill xmlns:a="http://schemas.openxmlformats.org/drawingml/2006/main">
              <a:srgbClr val="2F6B9A"/>
            </a:solidFill>
          </c:spPr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2</c:v>
              </c:pt>
              <c:pt idx="1">
                <c:v>5.6</c:v>
              </c:pt>
              <c:pt idx="2">
                <c:v>0.8</c:v>
              </c:pt>
              <c:pt idx="3">
                <c:v>0.5</c:v>
              </c:pt>
              <c:pt idx="4">
                <c:v>0.4</c:v>
              </c:pt>
            </c:numLit>
          </c:val>
        </c:ser>
        <c:ser>
          <c:idx val="2"/>
          <c:order val="2"/>
          <c:tx>
            <c:v>GPAD interval</c:v>
          </c:tx>
          <c:spPr>
            <a:solidFill xmlns:a="http://schemas.openxmlformats.org/drawingml/2006/main">
              <a:srgbClr val="D79A2B"/>
            </a:solidFill>
          </c:spPr>
          <c:invertIfNegative val="0"/>
          <c:cat>
            <c:strLit>
              <c:ptCount val="5"/>
              <c:pt idx="0">
                <c:v>Overall experience</c:v>
              </c:pt>
              <c:pt idx="1">
                <c:v>Wait acceptable</c:v>
              </c:pt>
              <c:pt idx="2">
                <c:v>Needs met</c:v>
              </c:pt>
              <c:pt idx="3">
                <c:v>Trust</c:v>
              </c:pt>
              <c:pt idx="4">
                <c:v>Involvement</c:v>
              </c:pt>
            </c:strLit>
          </c:cat>
          <c:val>
            <c:numLit>
              <c:formatCode>General</c:formatCode>
              <c:ptCount val="5"/>
              <c:pt idx="0">
                <c:v>-0.7</c:v>
              </c:pt>
              <c:pt idx="1">
                <c:v>0.2</c:v>
              </c:pt>
              <c:pt idx="2">
                <c:v>-0.2</c:v>
              </c:pt>
              <c:pt idx="3">
                <c:v>-0.2</c:v>
              </c:pt>
              <c:pt idx="4">
                <c:v>-0.2</c:v>
              </c:pt>
            </c:numLit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E0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3D742E-5F01-4C85-A9CA-B31B9B4A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9A"/>
                </a:solidFill>
              </a:defRPr>
            </a:pPr>
            <a:r>
              <a:rPr sz="1050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2E79E-4F90-40D0-AFA3-FDACEF8C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857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6324F"/>
                </a:solidFill>
              </a:defRPr>
            </a:pPr>
            <a:r>
              <a:rPr sz="3675" b="1">
                <a:solidFill>
                  <a:srgbClr val="16324F"/>
                </a:solidFill>
              </a:rPr>
              <a:t>Continuity, appointment timing</a:t>
            </a:r>
          </a:p>
          <a:p xmlns:a="http://schemas.openxmlformats.org/drawingml/2006/main">
            <a:pPr algn="l">
              <a:defRPr sz="3675" b="1">
                <a:solidFill>
                  <a:srgbClr val="16324F"/>
                </a:solidFill>
              </a:defRPr>
            </a:pPr>
            <a:r>
              <a:rPr sz="3675" b="1">
                <a:solidFill>
                  <a:srgbClr val="16324F"/>
                </a:solidFill>
              </a:rPr>
              <a:t>and patients’ experience of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FF3E1-621B-4D7B-9E95-C2D6FAC0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6B78"/>
                </a:solidFill>
              </a:defRPr>
            </a:pPr>
            <a:r>
              <a:rPr sz="1800" b="0">
                <a:solidFill>
                  <a:srgbClr val="5E6B78"/>
                </a:solidFill>
              </a:rPr>
              <a:t>What the 2026 GP Patient Survey and appointment-system data show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08A11-463C-4DD6-A5A8-9FB80D67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10744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6FC94-B263-435F-8BD5-DE78532E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Dr Anne Marie Cunningham  ·  Clinical Lead for Data and 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B3E89-DCFA-4A6A-821C-D142DB28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05425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Draft for RCGP policy team</a:t>
            </a:r>
          </a:p>
        </p:txBody>
      </p:sp>
    </p:spTree>
    <p:extLst>
      <p:ext uri="{BB962C8B-B14F-4D97-AF65-F5344CB8AC3E}">
        <p14:creationId xmlns:p14="http://schemas.microsoft.com/office/powerpoint/2010/main" val="1776574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69143-3C54-456B-8DEF-BD7684F7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D8D1B-B2F5-4C08-9D5E-04801551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Three related measures answer different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B7387-6F98-40D0-92DE-F86901F2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3657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7AF2B-350E-4501-9743-FC8BB04E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8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CC409-F467-4CCB-AC2D-A61C2FF1F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Continuity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B72BF-9C19-42EB-BFD7-087CA7F2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Can patients see or speak to their preferred professional?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CE7FE8-3FD8-4F9A-B16A-18996302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GPPS: always/almost always or a lot of the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3938C7-C3EF-43EF-AB80-51589C63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143250" cy="3657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5E9D6-3E05-4D85-AB03-B1EF55A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573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F03F2-E20B-43A0-8CD5-5AAAA9F1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Appointment interval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57867-669A-474B-B237-30A45EFD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How long elapsed before the appointment?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E6829-84E1-46FB-ABEB-74FC157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290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GPPS: first contact to appointment</a:t>
            </a:r>
          </a:p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GPAD: booking to appointment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8AB42-5800-40F1-A5F9-BCBF027A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143250" cy="36576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EFD79A-987C-400C-9EAA-C692AB0F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573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52C1C-F28F-4C6D-B491-F99CD89F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2647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24F"/>
                </a:solidFill>
              </a:defRPr>
            </a:pPr>
            <a:r>
              <a:rPr sz="1950" b="1">
                <a:solidFill>
                  <a:srgbClr val="16324F"/>
                </a:solidFill>
              </a:rPr>
              <a:t>Experienced access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475D0-684D-4A95-8569-00E74D02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2647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</a:defRPr>
            </a:pPr>
            <a:r>
              <a:rPr sz="1575" b="0">
                <a:solidFill>
                  <a:srgbClr val="17212B"/>
                </a:solidFill>
              </a:rPr>
              <a:t>Did the patient consider the wait “about right”?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FA4040-7E4C-45D1-AFE8-281473F5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26479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8"/>
                </a:solidFill>
              </a:defRPr>
            </a:pPr>
            <a:r>
              <a:rPr sz="1200" b="0">
                <a:solidFill>
                  <a:srgbClr val="5E6B78"/>
                </a:solidFill>
              </a:rPr>
              <a:t>GPPS assessment of the 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E9705-0D67-42AC-857E-1E5C098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The analysis tests their associations with overall experience, needs met, trust and involvement.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7F68F-C612-49A3-95B9-D452004C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 Patient Survey 2026; practice-level analysis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A1B25-A41F-40FB-AA5C-0CD6BDBD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907129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C74A17-0E2B-437D-AC46-A0E9D86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AE88D-02F7-43B4-A5E8-3C291FC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Continuity leads on experience; shorter intervals lead on the wait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723900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49e6bcd6934e7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F79C1-5B48-491E-BDD6-BA3663FC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38300"/>
            <a:ext cx="3238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5EA6C-E063-4768-8A18-44F37E73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05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Simple decile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DB541-E67F-4496-AD9D-4B128E3E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57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F8A"/>
                </a:solidFill>
              </a:defRPr>
            </a:pPr>
            <a:r>
              <a:rPr sz="1275" b="1">
                <a:solidFill>
                  <a:srgbClr val="348F8A"/>
                </a:solidFill>
              </a:rPr>
              <a:t>Higher continuity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4E1B9-A93D-48F7-BEAC-A36FE5B4B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476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Overall experience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Needs met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Trust</a:t>
            </a:r>
          </a:p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Involvement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0D6CA-C53D-49AE-A75C-F4716211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14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9A"/>
                </a:solidFill>
              </a:defRPr>
            </a:pPr>
            <a:r>
              <a:rPr sz="1275" b="1">
                <a:solidFill>
                  <a:srgbClr val="2F6B9A"/>
                </a:solidFill>
              </a:rPr>
              <a:t>Shorter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E0C4B-16C2-459A-89A0-B5D2EE61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386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Acceptability of the wait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841EA-36E2-48B6-87C3-70B1C877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Top 10% groups; pooled weighted GPPS results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5551D-603E-4E58-B61C-96BE4A95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 Patient Survey 2026; practice-level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140A22-707A-46BE-9896-2F8AD2DB0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5094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0752EB-6C87-418A-95B3-BEE7EF71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DDBCD-D960-42A5-BB87-CDE9A3F2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Preference for continuity rises with deprivation; achieved continuity falls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84869964502495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4D103-4470-4C55-87B2-3B6D693B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895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09DE4-F811-4F53-9FA3-C2ABC63B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Least → most deprived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800D5-7C93-44BC-8F1D-CC43DB7B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9080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79A2B"/>
                </a:solidFill>
              </a:defRPr>
            </a:pPr>
            <a:r>
              <a:rPr sz="2100" b="1">
                <a:solidFill>
                  <a:srgbClr val="D79A2B"/>
                </a:solidFill>
              </a:rPr>
              <a:t>+3.9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8A4B1-D1E0-42A9-AA7B-141B3B9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718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reporting a preferred professional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6F40F-DE49-4D90-8537-2181970B8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14750"/>
            <a:ext cx="240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8F8A"/>
                </a:solidFill>
              </a:defRPr>
            </a:pPr>
            <a:r>
              <a:rPr sz="2100" b="1">
                <a:solidFill>
                  <a:srgbClr val="348F8A"/>
                </a:solidFill>
              </a:rPr>
              <a:t>−7.4 points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CE3EF-AA3B-4E49-914A-7CE346C0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2B"/>
                </a:solidFill>
              </a:defRPr>
            </a:pPr>
            <a:r>
              <a:rPr sz="1200" b="0">
                <a:solidFill>
                  <a:srgbClr val="17212B"/>
                </a:solidFill>
              </a:rPr>
              <a:t>regularly seeing or speaking to them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9D29D-7454-4E86-A619-7A72DFDF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GPPS 2026; pooled practice-level weighted results by IMD quintile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68246-9BDD-4553-AB2C-7DDAD0C8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785147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1B7867-DF81-4027-8BE6-A508A3B3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C2570-94EA-4094-9821-8F4DA3A4B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Continuity and patient experience both decline with deprivation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82867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620218f6814d04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0DD56-DA6A-4D78-95DA-362CB0F9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33550"/>
            <a:ext cx="2228850" cy="285750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D99EB-0EF1-4967-88AD-30C3480F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81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Least → most deprived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34F1C-3940-4E24-B0ED-1FDEDE0B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241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8F8A"/>
                </a:solidFill>
              </a:defRPr>
            </a:pPr>
            <a:r>
              <a:rPr sz="2100" b="1">
                <a:solidFill>
                  <a:srgbClr val="348F8A"/>
                </a:solidFill>
              </a:rPr>
              <a:t>−5.4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8AFA0-FDCC-4EF8-89EA-54F7F5BF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67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continuity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07D37-A19A-4D76-867A-FCA511CA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62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−6.5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C90A0-CA8D-4851-A3A3-8C3E26B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05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8"/>
                </a:solidFill>
              </a:defRPr>
            </a:pPr>
            <a:r>
              <a:rPr sz="1125" b="0">
                <a:solidFill>
                  <a:srgbClr val="5E6B78"/>
                </a:solidFill>
              </a:rPr>
              <a:t>overall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0A295-B057-4A8F-B719-6FF75A41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Response-weighted practice averages; IMD 2025 quintiles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77F75-B39E-43D7-8A03-D77D477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57429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1A3ABF-55B6-4494-93F6-9835B4DC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D4FAD-D50D-48A7-8D6F-C63181F9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The continuity–experience relationship persists within every deprivation quintile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82867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d59f78314b433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F98B6-7800-4CCA-A5C7-071E8F59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66900"/>
            <a:ext cx="2228850" cy="27241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013AC-DDED-4CCE-B2A0-350F2A47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1145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Effect shown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E0C33-89C8-4394-BFEE-142E164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52700"/>
            <a:ext cx="1752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Percentage-point difference associated with a 10-point increase in continuity.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EFB06-AF9A-4DB5-896E-3433EC39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43350"/>
            <a:ext cx="1752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Each model also includes patient-reported same/next-day interval.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26DE4-DB88-4AEF-B153-3E6BD23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Weighted models fitted separately within each practice deprivation quintile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650AB9-C99E-48D2-B7EB-065B6C2A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557211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82E806-CEF1-453A-9C0A-D5D1C609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ECE80-D7B2-4E52-997F-97D54339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The adjusted models test timing and continuity separately and together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E370B-8341-4ED2-8524-83B6583B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FE5259-CE99-47E5-855E-A1543E90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GPPS MEASURES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961BCA-DD72-421B-90EC-6E3C0F1A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78"/>
                </a:solidFill>
              </a:defRPr>
            </a:pPr>
            <a:r>
              <a:rPr sz="1050" b="1">
                <a:solidFill>
                  <a:srgbClr val="5E6B78"/>
                </a:solidFill>
              </a:rPr>
              <a:t>GPAD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8B3B70-FBF2-4E68-912F-D8A9BDE3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F1260-8E8C-4CA8-BAAF-F829AA3F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9774F-9513-4B75-9C4E-D6DED349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62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 + GPPS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6D2E1F-72A7-4C9A-845D-5E1ABD93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4E617E-AC59-43BE-9D58-2CA2A650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0C4C16-8B82-42E3-99EE-17701479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2a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1CFDE-BA50-4B4A-97E4-AC54128D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432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ADF8A-369D-40E3-B3C9-FF509C1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all attended appointments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06BD8-74E6-4812-9CF1-F856AD5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A0FCE-0CF1-42A2-8A0B-38289ACF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2b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11768-C4B2-48A7-8959-DDD12E83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4E501A-B93C-4284-A941-8512C7A7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attended GP appointments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9590E-5A63-4ED9-8B58-E5FF9B97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858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9FDCF-31A4-4761-9859-C8FB292A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053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Model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425538-988B-4D8C-B882-C4184D04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053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Continuity + GPPS interval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1BC0DA-4065-4A37-8CDF-3E3DF00F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053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GPAD: all attended appointments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CBEED-17EA-40CE-9BB6-017D710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F3F6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5A8FAA-9166-492C-A9FA-118E4BF2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All models adjust for deprivation, log list size, patient age profile, rurality and dispensing status.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70BA43-D331-4AD4-9ABF-FD73B218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Weighted practice-level linear models; approximately 5,800 practices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8F1DF1-6640-4C7D-870D-4B5B0445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47815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3B90E4-7076-420F-A063-D3698043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500BA-6A06-4008-BE84-3DD2D797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Adjusted results separate the wait from the experience of care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8286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dee951cebc45c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8E553-270B-43D1-AFAD-D6DC0AC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90700"/>
            <a:ext cx="2247900" cy="28956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9E0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CE63F-E58E-4EF4-AF9C-DB9B15BE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383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324F"/>
                </a:solidFill>
              </a:defRPr>
            </a:pPr>
            <a:r>
              <a:rPr sz="1425" b="1">
                <a:solidFill>
                  <a:srgbClr val="16324F"/>
                </a:solidFill>
              </a:rPr>
              <a:t>Combined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BCB8A-A403-45B1-9C7F-A088F48D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9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8F8A"/>
                </a:solidFill>
              </a:defRPr>
            </a:pPr>
            <a:r>
              <a:rPr sz="1275" b="1">
                <a:solidFill>
                  <a:srgbClr val="348F8A"/>
                </a:solidFill>
              </a:rPr>
              <a:t>Continuity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AB1A2-7F1A-435D-896E-BFB42C99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larger association with four care-experience outcomes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4EC9B3-2D0F-4473-8A00-C73FED66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790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9A"/>
                </a:solidFill>
              </a:defRPr>
            </a:pPr>
            <a:r>
              <a:rPr sz="1275" b="1">
                <a:solidFill>
                  <a:srgbClr val="2F6B9A"/>
                </a:solidFill>
              </a:rPr>
              <a:t>GPPS interval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EE497-8BD9-4119-80CB-9BC597E1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57650"/>
            <a:ext cx="1752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largest association with acceptable waiting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52D008-7E8C-42B2-9181-4C3773A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Percentage-point difference per 10-point increase; fully adjusted combined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0B206D-D2FD-45AE-B234-EDEF34C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10852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AE589-C8BC-43D7-9CF8-77CE53F9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</a:defRPr>
            </a:pPr>
            <a:r>
              <a:rPr sz="975" b="1">
                <a:solidFill>
                  <a:srgbClr val="2F6B9A"/>
                </a:solidFill>
              </a:rPr>
              <a:t>RCGP POLICY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2F7F7-FB3C-4875-91D3-F3F00386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324F"/>
                </a:solidFill>
              </a:defRPr>
            </a:pPr>
            <a:r>
              <a:rPr sz="2850" b="1">
                <a:solidFill>
                  <a:srgbClr val="16324F"/>
                </a:solidFill>
              </a:rPr>
              <a:t>Implications for RCGP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FDA1F-0583-4F2D-AE76-4D58DFD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531DF-905E-42F2-B403-0F7EE98F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Report three measures separately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14DC4-F87F-49CF-9249-2E41B618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049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Appointment interval, acceptable waiting and continuity are empirically distinct.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39969-F2E1-4AB4-A3AC-0DE0CFA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288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81B65-7ED5-408C-A869-0F5DA934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52636-7728-4701-93C5-7FB5D33E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71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Make deprivation visible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94A15-902B-49F9-A600-33AFD4B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717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More deprived practices have lower achieved continuity and worse experience.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3EE9E-EC46-4350-A6D7-637CB5AA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11B4B-2B9B-4A2A-9FBA-D3AB09A5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4A542-70BB-4CA7-A451-B8644EB2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38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Protect continuity in access reform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86F35-1297-47FD-8AD9-9B87937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Timing targets should be assessed alongside relational continuity.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1354E-42F5-4C19-A3BF-38368BD4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DBA9B-92E6-4808-B65D-04A6F524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5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79A2B"/>
                </a:solidFill>
              </a:defRPr>
            </a:pPr>
            <a:r>
              <a:rPr sz="1800" b="1">
                <a:solidFill>
                  <a:srgbClr val="D79A2B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6026B-6789-4DC2-B8B8-56CB876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24F"/>
                </a:solidFill>
              </a:defRPr>
            </a:pPr>
            <a:r>
              <a:rPr sz="1725" b="1">
                <a:solidFill>
                  <a:srgbClr val="16324F"/>
                </a:solidFill>
              </a:rPr>
              <a:t>Treat GPAD as a partial measure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97369-0E0E-4B92-9951-F3C1A5C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581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2B"/>
                </a:solidFill>
              </a:defRPr>
            </a:pPr>
            <a:r>
              <a:rPr sz="1350" b="0">
                <a:solidFill>
                  <a:srgbClr val="17212B"/>
                </a:solidFill>
              </a:rPr>
              <a:t>Booking interval does not capture first contact, urgency, preference or planned care.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E4D53-E09C-4C65-A2BE-970DA878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429250"/>
            <a:ext cx="10077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EC7A72-FF8A-4A31-A4FB-E77883DE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388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B78"/>
                </a:solidFill>
              </a:defRPr>
            </a:pPr>
            <a:r>
              <a:rPr sz="975" b="0">
                <a:solidFill>
                  <a:srgbClr val="5E6B78"/>
                </a:solidFill>
              </a:rPr>
              <a:t>Evidence base: GPPS 2026 practice results; GPAD January–February 2026; IMD 2025; NHS practice characteristics.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02177-29C3-4D8E-BC44-E05DB3F4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B78"/>
                </a:solidFill>
              </a:defRPr>
            </a:pPr>
            <a:r>
              <a:rPr sz="750" b="0">
                <a:solidFill>
                  <a:srgbClr val="5E6B78"/>
                </a:solidFill>
              </a:rPr>
              <a:t>Cross-sectional practice-level associations; results do not establish causation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B27DFD-724F-4AA5-A3B0-E1B5C025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78"/>
                </a:solidFill>
              </a:defRPr>
            </a:pPr>
            <a:r>
              <a:rPr sz="825" b="1">
                <a:solidFill>
                  <a:srgbClr val="5E6B78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5956523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2026-07-22T22:28:39.7690000Z</dcterms:created>
  <dcterms:modified xsi:type="dcterms:W3CDTF">2026-07-22T22:28:39.7690000Z</dcterms:modified>
</coreProperties>
</file>